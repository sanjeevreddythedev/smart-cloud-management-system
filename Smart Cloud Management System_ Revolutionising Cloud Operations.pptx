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Noto Sans TC"/>
      <p:regular r:id="rId15"/>
      <p:bold r:id="rId16"/>
    </p:embeddedFont>
    <p:embeddedFont>
      <p:font typeface="Sora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NotoSansTC-regular.fntdata"/><Relationship Id="rId14" Type="http://schemas.openxmlformats.org/officeDocument/2006/relationships/slide" Target="slides/slide10.xml"/><Relationship Id="rId17" Type="http://schemas.openxmlformats.org/officeDocument/2006/relationships/font" Target="fonts/Sora-regular.fntdata"/><Relationship Id="rId16" Type="http://schemas.openxmlformats.org/officeDocument/2006/relationships/font" Target="fonts/NotoSansTC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Sora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Relationship Id="rId4" Type="http://schemas.openxmlformats.org/officeDocument/2006/relationships/image" Target="../media/image10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6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793790" y="2697242"/>
            <a:ext cx="7556421" cy="2835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"/>
              <a:buNone/>
            </a:pPr>
            <a:r>
              <a:rPr b="0" i="0" lang="en-US" sz="44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Smart Cloud Management System: Revolutionising Cloud Operations</a:t>
            </a:r>
            <a:endParaRPr b="0" i="0" sz="44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1722834" y="456248"/>
            <a:ext cx="9600605" cy="506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150"/>
              <a:buFont typeface="Sora"/>
              <a:buNone/>
            </a:pPr>
            <a:r>
              <a:rPr b="0" i="0" lang="en-US" sz="31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Introduction: The Cloud Complexity Challenge</a:t>
            </a:r>
            <a:endParaRPr b="0" i="0" sz="3150" u="none" cap="none" strike="noStrike"/>
          </a:p>
        </p:txBody>
      </p:sp>
      <p:sp>
        <p:nvSpPr>
          <p:cNvPr id="64" name="Google Shape;64;p14"/>
          <p:cNvSpPr/>
          <p:nvPr/>
        </p:nvSpPr>
        <p:spPr>
          <a:xfrm>
            <a:off x="1722834" y="3291959"/>
            <a:ext cx="3657600" cy="1110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50"/>
              <a:buFont typeface="Noto Sans TC"/>
              <a:buNone/>
            </a:pPr>
            <a:r>
              <a:rPr b="0" i="0" lang="en-US" sz="12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Cloud adoption is accelerating globally, with enterprises increasingly utilising multiple cloud providers and hybrid environments. This rapid expansion, while beneficial, introduces significant challenges.</a:t>
            </a:r>
            <a:endParaRPr b="0" i="0" sz="1250" u="none" cap="none" strike="noStrike"/>
          </a:p>
        </p:txBody>
      </p:sp>
      <p:sp>
        <p:nvSpPr>
          <p:cNvPr id="65" name="Google Shape;65;p14"/>
          <p:cNvSpPr/>
          <p:nvPr/>
        </p:nvSpPr>
        <p:spPr>
          <a:xfrm>
            <a:off x="1722834" y="4506992"/>
            <a:ext cx="3657600" cy="11108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250"/>
              <a:buFont typeface="Noto Sans TC"/>
              <a:buNone/>
            </a:pPr>
            <a:r>
              <a:rPr b="0" i="0" lang="en-US" sz="12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Managing these diverse and fragmented environments manually leads to considerable inefficiencies, heightened security risks, and escalating operational costs. A unified approach is critically needed.</a:t>
            </a:r>
            <a:endParaRPr b="0" i="0" sz="1250" u="none" cap="none" strike="noStrike"/>
          </a:p>
        </p:txBody>
      </p:sp>
      <p:pic>
        <p:nvPicPr>
          <p:cNvPr descr="preencoded.png"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0268" y="1266825"/>
            <a:ext cx="6797635" cy="637615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/>
          <p:nvPr/>
        </p:nvSpPr>
        <p:spPr>
          <a:xfrm>
            <a:off x="8139112" y="2328951"/>
            <a:ext cx="2419841" cy="25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r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Public / Private / Hybrid</a:t>
            </a:r>
            <a:endParaRPr b="0" i="0" sz="1800" u="none" cap="none" strike="noStrike"/>
          </a:p>
        </p:txBody>
      </p:sp>
      <p:sp>
        <p:nvSpPr>
          <p:cNvPr id="68" name="Google Shape;68;p14"/>
          <p:cNvSpPr/>
          <p:nvPr/>
        </p:nvSpPr>
        <p:spPr>
          <a:xfrm>
            <a:off x="6284215" y="5897694"/>
            <a:ext cx="2051178" cy="25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r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Fragmented Clouds</a:t>
            </a:r>
            <a:endParaRPr b="0" i="0" sz="1800" u="none" cap="none" strike="noStrike"/>
          </a:p>
        </p:txBody>
      </p:sp>
      <p:sp>
        <p:nvSpPr>
          <p:cNvPr id="69" name="Google Shape;69;p14"/>
          <p:cNvSpPr/>
          <p:nvPr/>
        </p:nvSpPr>
        <p:spPr>
          <a:xfrm>
            <a:off x="10300007" y="5897694"/>
            <a:ext cx="2176614" cy="254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r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Unified Management</a:t>
            </a:r>
            <a:endParaRPr b="0" i="0" sz="1800" u="none" cap="none" strike="noStrike"/>
          </a:p>
        </p:txBody>
      </p:sp>
      <p:sp>
        <p:nvSpPr>
          <p:cNvPr id="70" name="Google Shape;70;p14"/>
          <p:cNvSpPr/>
          <p:nvPr/>
        </p:nvSpPr>
        <p:spPr>
          <a:xfrm>
            <a:off x="7435559" y="3815927"/>
            <a:ext cx="1362920" cy="50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r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Siloed Policies</a:t>
            </a:r>
            <a:endParaRPr b="0" i="0" sz="180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9899692" y="3815927"/>
            <a:ext cx="1362920" cy="50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r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Centralized Controls</a:t>
            </a:r>
            <a:endParaRPr b="0" i="0" sz="180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8965020" y="5515328"/>
            <a:ext cx="768130" cy="101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r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Cross‑Cloud Visibility</a:t>
            </a:r>
            <a:endParaRPr b="0" i="0" sz="180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8880051" y="4240777"/>
            <a:ext cx="938069" cy="1019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Sor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Consistent Governance</a:t>
            </a:r>
            <a:endParaRPr b="0" i="0" sz="18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9" name="Google Shape;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/>
          <p:nvPr/>
        </p:nvSpPr>
        <p:spPr>
          <a:xfrm>
            <a:off x="515779" y="1576507"/>
            <a:ext cx="8112442" cy="9210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900"/>
              <a:buFont typeface="Sora"/>
              <a:buNone/>
            </a:pPr>
            <a:r>
              <a:rPr b="0" i="0" lang="en-US" sz="290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Problem Statement: Fragmented Cloud Management</a:t>
            </a:r>
            <a:endParaRPr b="0" i="0" sz="2900" u="none" cap="none" strike="noStrike"/>
          </a:p>
        </p:txBody>
      </p:sp>
      <p:sp>
        <p:nvSpPr>
          <p:cNvPr id="81" name="Google Shape;81;p15"/>
          <p:cNvSpPr/>
          <p:nvPr/>
        </p:nvSpPr>
        <p:spPr>
          <a:xfrm>
            <a:off x="515779" y="2641163"/>
            <a:ext cx="8112442" cy="807006"/>
          </a:xfrm>
          <a:prstGeom prst="roundRect">
            <a:avLst>
              <a:gd fmla="val 2740" name="adj"/>
            </a:avLst>
          </a:prstGeom>
          <a:solidFill>
            <a:srgbClr val="07070C"/>
          </a:solidFill>
          <a:ln cap="flat" cmpd="sng" w="15225">
            <a:solidFill>
              <a:srgbClr val="3F3F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678299" y="2803684"/>
            <a:ext cx="2263616" cy="230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Sora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Lack of Unified Visibility</a:t>
            </a:r>
            <a:endParaRPr b="0" i="0" sz="1450" u="none" cap="none" strike="noStrike"/>
          </a:p>
        </p:txBody>
      </p:sp>
      <p:sp>
        <p:nvSpPr>
          <p:cNvPr id="83" name="Google Shape;83;p15"/>
          <p:cNvSpPr/>
          <p:nvPr/>
        </p:nvSpPr>
        <p:spPr>
          <a:xfrm>
            <a:off x="678299" y="3091220"/>
            <a:ext cx="7787402" cy="194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Across public, private, and hybrid clouds, leading to operational blind spots.</a:t>
            </a:r>
            <a:endParaRPr b="0" i="0" sz="1150" u="none" cap="none" strike="noStrike"/>
          </a:p>
        </p:txBody>
      </p:sp>
      <p:sp>
        <p:nvSpPr>
          <p:cNvPr id="84" name="Google Shape;84;p15"/>
          <p:cNvSpPr/>
          <p:nvPr/>
        </p:nvSpPr>
        <p:spPr>
          <a:xfrm>
            <a:off x="515779" y="3543895"/>
            <a:ext cx="8112442" cy="807006"/>
          </a:xfrm>
          <a:prstGeom prst="roundRect">
            <a:avLst>
              <a:gd fmla="val 2740" name="adj"/>
            </a:avLst>
          </a:prstGeom>
          <a:solidFill>
            <a:srgbClr val="07070C"/>
          </a:solidFill>
          <a:ln cap="flat" cmpd="sng" w="15225">
            <a:solidFill>
              <a:srgbClr val="3F3F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678299" y="3706416"/>
            <a:ext cx="1902262" cy="230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Sora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Manual Provisioning</a:t>
            </a:r>
            <a:endParaRPr b="0" i="0" sz="1450" u="none" cap="none" strike="noStrike"/>
          </a:p>
        </p:txBody>
      </p:sp>
      <p:sp>
        <p:nvSpPr>
          <p:cNvPr id="86" name="Google Shape;86;p15"/>
          <p:cNvSpPr/>
          <p:nvPr/>
        </p:nvSpPr>
        <p:spPr>
          <a:xfrm>
            <a:off x="678299" y="3993952"/>
            <a:ext cx="7787402" cy="194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Causing significant delays and an increased propensity for human errors.</a:t>
            </a:r>
            <a:endParaRPr b="0" i="0" sz="1150" u="none" cap="none" strike="noStrike"/>
          </a:p>
        </p:txBody>
      </p:sp>
      <p:sp>
        <p:nvSpPr>
          <p:cNvPr id="87" name="Google Shape;87;p15"/>
          <p:cNvSpPr/>
          <p:nvPr/>
        </p:nvSpPr>
        <p:spPr>
          <a:xfrm>
            <a:off x="515779" y="4446627"/>
            <a:ext cx="8112442" cy="807006"/>
          </a:xfrm>
          <a:prstGeom prst="roundRect">
            <a:avLst>
              <a:gd fmla="val 2740" name="adj"/>
            </a:avLst>
          </a:prstGeom>
          <a:solidFill>
            <a:srgbClr val="07070C"/>
          </a:solidFill>
          <a:ln cap="flat" cmpd="sng" w="15225">
            <a:solidFill>
              <a:srgbClr val="3F3F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678299" y="4609148"/>
            <a:ext cx="1960245" cy="230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Sora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Inconsistent Policies</a:t>
            </a:r>
            <a:endParaRPr b="0" i="0" sz="145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678299" y="4896683"/>
            <a:ext cx="7787402" cy="194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Difficulty enforcing security and compliance policies uniformly across diverse environments.</a:t>
            </a:r>
            <a:endParaRPr b="0" i="0" sz="115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515779" y="5349359"/>
            <a:ext cx="8112442" cy="807006"/>
          </a:xfrm>
          <a:prstGeom prst="roundRect">
            <a:avLst>
              <a:gd fmla="val 2740" name="adj"/>
            </a:avLst>
          </a:prstGeom>
          <a:solidFill>
            <a:srgbClr val="07070C"/>
          </a:solidFill>
          <a:ln cap="flat" cmpd="sng" w="15225">
            <a:solidFill>
              <a:srgbClr val="3F3F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678299" y="5511879"/>
            <a:ext cx="1842373" cy="230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Sora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Rising Costs</a:t>
            </a:r>
            <a:endParaRPr b="0" i="0" sz="1450" u="none" cap="none" strike="noStrike"/>
          </a:p>
        </p:txBody>
      </p:sp>
      <p:sp>
        <p:nvSpPr>
          <p:cNvPr id="92" name="Google Shape;92;p15"/>
          <p:cNvSpPr/>
          <p:nvPr/>
        </p:nvSpPr>
        <p:spPr>
          <a:xfrm>
            <a:off x="678299" y="5799415"/>
            <a:ext cx="7787402" cy="1944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Due to inefficient resource utilisation and lack of proper cost governance.</a:t>
            </a:r>
            <a:endParaRPr b="0" i="0" sz="1150" u="none" cap="none" strike="noStrike"/>
          </a:p>
        </p:txBody>
      </p:sp>
      <p:sp>
        <p:nvSpPr>
          <p:cNvPr id="93" name="Google Shape;93;p15"/>
          <p:cNvSpPr/>
          <p:nvPr/>
        </p:nvSpPr>
        <p:spPr>
          <a:xfrm>
            <a:off x="515779" y="6264116"/>
            <a:ext cx="8112442" cy="388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Real-world impact: According to Gartner (2025), 70% of organisations cite cloud management complexity as a primary barrier to achieving their cloud objectives.</a:t>
            </a:r>
            <a:endParaRPr b="0" i="0" sz="11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/>
          <p:nvPr/>
        </p:nvSpPr>
        <p:spPr>
          <a:xfrm>
            <a:off x="697587" y="1208603"/>
            <a:ext cx="13235226" cy="1245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900"/>
              <a:buFont typeface="Sora"/>
              <a:buNone/>
            </a:pPr>
            <a:r>
              <a:rPr b="0" i="0" lang="en-US" sz="390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Solution Overview: Smart Cloud Management System</a:t>
            </a:r>
            <a:endParaRPr b="0" i="0" sz="3900" u="none" cap="none" strike="noStrike"/>
          </a:p>
        </p:txBody>
      </p:sp>
      <p:sp>
        <p:nvSpPr>
          <p:cNvPr id="100" name="Google Shape;100;p16"/>
          <p:cNvSpPr/>
          <p:nvPr/>
        </p:nvSpPr>
        <p:spPr>
          <a:xfrm>
            <a:off x="697587" y="2874526"/>
            <a:ext cx="4316254" cy="1497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Our Smart Cloud Management System provides a centralised, intelligent platform designed to automate provisioning, orchestration, monitoring, and governance across all your multi-cloud environments.</a:t>
            </a:r>
            <a:endParaRPr b="0" i="0" sz="1550" u="none" cap="none" strike="noStrike"/>
          </a:p>
        </p:txBody>
      </p:sp>
      <p:sp>
        <p:nvSpPr>
          <p:cNvPr id="101" name="Google Shape;101;p16"/>
          <p:cNvSpPr/>
          <p:nvPr/>
        </p:nvSpPr>
        <p:spPr>
          <a:xfrm>
            <a:off x="697587" y="4529971"/>
            <a:ext cx="4316254" cy="898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It offers intuitive self-service portals, policy-driven automation, and real-time analytics to streamline operations and enhance control.</a:t>
            </a:r>
            <a:endParaRPr b="0" i="0" sz="1550" u="none" cap="none" strike="noStrike"/>
          </a:p>
        </p:txBody>
      </p:sp>
      <p:sp>
        <p:nvSpPr>
          <p:cNvPr id="102" name="Google Shape;102;p16"/>
          <p:cNvSpPr/>
          <p:nvPr/>
        </p:nvSpPr>
        <p:spPr>
          <a:xfrm>
            <a:off x="996553" y="5625703"/>
            <a:ext cx="4017288" cy="11982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b="0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Example: IBM SmartCloud Orchestrator has demonstrated the ability to reduce provisioning time from weeks to mere minutes through automated workflows.</a:t>
            </a:r>
            <a:endParaRPr b="0" i="0" sz="1550" u="none" cap="none" strike="noStrike"/>
          </a:p>
        </p:txBody>
      </p:sp>
      <p:sp>
        <p:nvSpPr>
          <p:cNvPr id="103" name="Google Shape;103;p16"/>
          <p:cNvSpPr/>
          <p:nvPr/>
        </p:nvSpPr>
        <p:spPr>
          <a:xfrm>
            <a:off x="697587" y="5625703"/>
            <a:ext cx="22860" cy="1198245"/>
          </a:xfrm>
          <a:prstGeom prst="rect">
            <a:avLst/>
          </a:prstGeom>
          <a:solidFill>
            <a:srgbClr val="97B8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7712" y="3123843"/>
            <a:ext cx="8432602" cy="349007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5707183" y="4092375"/>
            <a:ext cx="1362685" cy="467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50"/>
              <a:buFont typeface="Sora"/>
              <a:buNone/>
            </a:pPr>
            <a:r>
              <a:rPr b="0" i="0" lang="en-US" sz="13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Manual Provisioning</a:t>
            </a:r>
            <a:endParaRPr b="0" i="0" sz="1350" u="none" cap="none" strike="noStrike"/>
          </a:p>
        </p:txBody>
      </p:sp>
      <p:sp>
        <p:nvSpPr>
          <p:cNvPr id="106" name="Google Shape;106;p16"/>
          <p:cNvSpPr/>
          <p:nvPr/>
        </p:nvSpPr>
        <p:spPr>
          <a:xfrm>
            <a:off x="5707183" y="4626232"/>
            <a:ext cx="1362685" cy="526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4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50"/>
              <a:buFont typeface="Noto Sans TC"/>
              <a:buNone/>
            </a:pPr>
            <a:r>
              <a:rPr b="0" i="0" lang="en-US" sz="10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Took weeks with repetitive, error-prone steps</a:t>
            </a:r>
            <a:endParaRPr b="0" i="0" sz="1050" u="none" cap="none" strike="noStrike"/>
          </a:p>
        </p:txBody>
      </p:sp>
      <p:sp>
        <p:nvSpPr>
          <p:cNvPr id="107" name="Google Shape;107;p16"/>
          <p:cNvSpPr/>
          <p:nvPr/>
        </p:nvSpPr>
        <p:spPr>
          <a:xfrm>
            <a:off x="12371044" y="4092375"/>
            <a:ext cx="1362685" cy="467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350"/>
              <a:buFont typeface="Sora"/>
              <a:buNone/>
            </a:pPr>
            <a:r>
              <a:rPr b="0" i="0" lang="en-US" sz="13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Automated Provisioning</a:t>
            </a:r>
            <a:endParaRPr b="0" i="0" sz="1350" u="none" cap="none" strike="noStrike"/>
          </a:p>
        </p:txBody>
      </p:sp>
      <p:sp>
        <p:nvSpPr>
          <p:cNvPr id="108" name="Google Shape;108;p16"/>
          <p:cNvSpPr/>
          <p:nvPr/>
        </p:nvSpPr>
        <p:spPr>
          <a:xfrm>
            <a:off x="12371044" y="4626232"/>
            <a:ext cx="1362685" cy="5265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4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050"/>
              <a:buFont typeface="Noto Sans TC"/>
              <a:buNone/>
            </a:pPr>
            <a:r>
              <a:rPr b="0" i="0" lang="en-US" sz="10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Completes in minutes with consistent policies</a:t>
            </a:r>
            <a:endParaRPr b="0" i="0" sz="10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/>
          <p:nvPr/>
        </p:nvSpPr>
        <p:spPr>
          <a:xfrm>
            <a:off x="758428" y="1178123"/>
            <a:ext cx="12492752" cy="5938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75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700"/>
              <a:buFont typeface="Sora"/>
              <a:buNone/>
            </a:pPr>
            <a:r>
              <a:rPr b="0" i="0" lang="en-US" sz="370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Literature Review: Advances in Cloud Orchestration</a:t>
            </a:r>
            <a:endParaRPr b="0" i="0" sz="3700" u="none" cap="none" strike="noStrike"/>
          </a:p>
        </p:txBody>
      </p:sp>
      <p:sp>
        <p:nvSpPr>
          <p:cNvPr id="115" name="Google Shape;115;p17"/>
          <p:cNvSpPr/>
          <p:nvPr/>
        </p:nvSpPr>
        <p:spPr>
          <a:xfrm>
            <a:off x="758428" y="2492216"/>
            <a:ext cx="4288274" cy="83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Key studies consistently highlight the transformative benefits of robust cloud orchestration solutions:</a:t>
            </a:r>
            <a:endParaRPr b="0" i="0" sz="1450" u="none" cap="none" strike="noStrike"/>
          </a:p>
        </p:txBody>
      </p:sp>
      <p:sp>
        <p:nvSpPr>
          <p:cNvPr id="116" name="Google Shape;116;p17"/>
          <p:cNvSpPr/>
          <p:nvPr/>
        </p:nvSpPr>
        <p:spPr>
          <a:xfrm>
            <a:off x="758428" y="3473410"/>
            <a:ext cx="4288274" cy="3073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Char char="•"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IBM’s SmartCloud Orchestrator exemplifies how integrating compute, storage, and network domains can achieve seamless automation.</a:t>
            </a:r>
            <a:endParaRPr b="0" i="0" sz="1450" u="none" cap="none" strike="noStrike"/>
          </a:p>
          <a:p>
            <a:pPr indent="-342900" lvl="0" marL="34290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Char char="•"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Research indicates that comprehensive automation can reduce human error by up to 40% and significantly decrease operational costs by 30%.</a:t>
            </a:r>
            <a:endParaRPr b="0" i="0" sz="1450" u="none" cap="none" strike="noStrike"/>
          </a:p>
          <a:p>
            <a:pPr indent="-342900" lvl="0" marL="342900" marR="0" rtl="0" algn="l">
              <a:lnSpc>
                <a:spcPct val="15172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Char char="•"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The adoption of open platforms is crucial, enabling flexible integration with diverse cloud providers and fostering greater agility.</a:t>
            </a:r>
            <a:endParaRPr b="0" i="0" sz="1450" u="none" cap="none" strike="noStrike"/>
          </a:p>
        </p:txBody>
      </p:sp>
      <p:pic>
        <p:nvPicPr>
          <p:cNvPr descr="preencoded.png" id="117" name="Google Shape;1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7952" y="2189917"/>
            <a:ext cx="8361402" cy="411218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7"/>
          <p:cNvSpPr/>
          <p:nvPr/>
        </p:nvSpPr>
        <p:spPr>
          <a:xfrm>
            <a:off x="7631549" y="6302097"/>
            <a:ext cx="190024" cy="190024"/>
          </a:xfrm>
          <a:prstGeom prst="roundRect">
            <a:avLst>
              <a:gd fmla="val 9624" name="adj"/>
            </a:avLst>
          </a:prstGeom>
          <a:solidFill>
            <a:srgbClr val="004E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7"/>
          <p:cNvSpPr/>
          <p:nvPr/>
        </p:nvSpPr>
        <p:spPr>
          <a:xfrm>
            <a:off x="7882533" y="6302097"/>
            <a:ext cx="1739860" cy="190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Error Reduction (%)</a:t>
            </a:r>
            <a:endParaRPr b="0" i="0" sz="1450" u="none" cap="none" strike="noStrike"/>
          </a:p>
        </p:txBody>
      </p:sp>
      <p:sp>
        <p:nvSpPr>
          <p:cNvPr id="120" name="Google Shape;120;p17"/>
          <p:cNvSpPr/>
          <p:nvPr/>
        </p:nvSpPr>
        <p:spPr>
          <a:xfrm>
            <a:off x="9774793" y="6302097"/>
            <a:ext cx="190024" cy="190024"/>
          </a:xfrm>
          <a:prstGeom prst="roundRect">
            <a:avLst>
              <a:gd fmla="val 9624" name="adj"/>
            </a:avLst>
          </a:prstGeom>
          <a:solidFill>
            <a:srgbClr val="6E9C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10025777" y="6302097"/>
            <a:ext cx="1685568" cy="190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Noto Sans TC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Cost Reduction (%)</a:t>
            </a:r>
            <a:endParaRPr b="0" i="0" sz="14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7" name="Google Shape;1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6003488" y="1576745"/>
            <a:ext cx="7245668" cy="461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900"/>
              <a:buFont typeface="Sora"/>
              <a:buNone/>
            </a:pPr>
            <a:r>
              <a:rPr b="0" i="0" lang="en-US" sz="290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Technologies Used: Core Components</a:t>
            </a:r>
            <a:endParaRPr b="0" i="0" sz="2900" u="none" cap="none" strike="noStrike"/>
          </a:p>
        </p:txBody>
      </p:sp>
      <p:pic>
        <p:nvPicPr>
          <p:cNvPr descr="preencoded.png" id="129" name="Google Shape;12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3488" y="2182654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/>
          <p:nvPr/>
        </p:nvSpPr>
        <p:spPr>
          <a:xfrm>
            <a:off x="6003488" y="2672239"/>
            <a:ext cx="2723793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Sora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Cloud Orchestration Engines</a:t>
            </a:r>
            <a:endParaRPr b="0" i="0" sz="1450" u="none" cap="none" strike="noStrike"/>
          </a:p>
        </p:txBody>
      </p:sp>
      <p:sp>
        <p:nvSpPr>
          <p:cNvPr id="131" name="Google Shape;131;p18"/>
          <p:cNvSpPr/>
          <p:nvPr/>
        </p:nvSpPr>
        <p:spPr>
          <a:xfrm>
            <a:off x="6003488" y="2960727"/>
            <a:ext cx="8109823" cy="195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Automate deployment and lifecycle management of cloud resources (e.g., IBM Cloud Orchestrator).</a:t>
            </a:r>
            <a:endParaRPr b="0" i="0" sz="1150" u="none" cap="none" strike="noStrike"/>
          </a:p>
        </p:txBody>
      </p:sp>
      <p:pic>
        <p:nvPicPr>
          <p:cNvPr descr="preencoded.png" id="132" name="Google Shape;13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03488" y="3348276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6003488" y="3837861"/>
            <a:ext cx="3131701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Sora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Containerisation &amp; Microservices</a:t>
            </a:r>
            <a:endParaRPr b="0" i="0" sz="1450" u="none" cap="none" strike="noStrike"/>
          </a:p>
        </p:txBody>
      </p:sp>
      <p:sp>
        <p:nvSpPr>
          <p:cNvPr id="134" name="Google Shape;134;p18"/>
          <p:cNvSpPr/>
          <p:nvPr/>
        </p:nvSpPr>
        <p:spPr>
          <a:xfrm>
            <a:off x="6003488" y="4126349"/>
            <a:ext cx="8109823" cy="195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Enable scalable, modular applications for flexible cloud deployment (Docker, Kubernetes).</a:t>
            </a:r>
            <a:endParaRPr b="0" i="0" sz="1150" u="none" cap="none" strike="noStrike"/>
          </a:p>
        </p:txBody>
      </p:sp>
      <p:pic>
        <p:nvPicPr>
          <p:cNvPr descr="preencoded.png" id="135" name="Google Shape;135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3488" y="4513898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/>
          <p:nvPr/>
        </p:nvSpPr>
        <p:spPr>
          <a:xfrm>
            <a:off x="6003488" y="5003483"/>
            <a:ext cx="1846897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Sora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AI &amp; Analytics</a:t>
            </a:r>
            <a:endParaRPr b="0" i="0" sz="1450" u="none" cap="none" strike="noStrike"/>
          </a:p>
        </p:txBody>
      </p:sp>
      <p:sp>
        <p:nvSpPr>
          <p:cNvPr id="137" name="Google Shape;137;p18"/>
          <p:cNvSpPr/>
          <p:nvPr/>
        </p:nvSpPr>
        <p:spPr>
          <a:xfrm>
            <a:off x="6003488" y="5291971"/>
            <a:ext cx="8109823" cy="195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For predictive resource optimisation, intelligent automation, and anomaly detection.</a:t>
            </a:r>
            <a:endParaRPr b="0" i="0" sz="1150" u="none" cap="none" strike="noStrike"/>
          </a:p>
        </p:txBody>
      </p:sp>
      <p:pic>
        <p:nvPicPr>
          <p:cNvPr descr="preencoded.png" id="138" name="Google Shape;13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03488" y="5679519"/>
            <a:ext cx="369332" cy="3693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/>
          <p:nvPr/>
        </p:nvSpPr>
        <p:spPr>
          <a:xfrm>
            <a:off x="6003488" y="6169104"/>
            <a:ext cx="2686883" cy="230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450"/>
              <a:buFont typeface="Sora"/>
              <a:buNone/>
            </a:pPr>
            <a:r>
              <a:rPr b="0" i="0" lang="en-US" sz="145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Security &amp; Compliance Tools</a:t>
            </a:r>
            <a:endParaRPr b="0" i="0" sz="1450" u="none" cap="none" strike="noStrike"/>
          </a:p>
        </p:txBody>
      </p:sp>
      <p:sp>
        <p:nvSpPr>
          <p:cNvPr id="140" name="Google Shape;140;p18"/>
          <p:cNvSpPr/>
          <p:nvPr/>
        </p:nvSpPr>
        <p:spPr>
          <a:xfrm>
            <a:off x="6003488" y="6457593"/>
            <a:ext cx="8109823" cy="1951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434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150"/>
              <a:buFont typeface="Noto Sans TC"/>
              <a:buNone/>
            </a:pPr>
            <a:r>
              <a:rPr b="0" i="0" lang="en-US" sz="11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Provide continuous monitoring and automated policy enforcement across all environments.</a:t>
            </a:r>
            <a:endParaRPr b="0" i="0" sz="11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/>
          <p:nvPr/>
        </p:nvSpPr>
        <p:spPr>
          <a:xfrm>
            <a:off x="699849" y="1083707"/>
            <a:ext cx="11672411" cy="624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900"/>
              <a:buFont typeface="Sora"/>
              <a:buNone/>
            </a:pPr>
            <a:r>
              <a:rPr b="0" i="0" lang="en-US" sz="390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Technologies Used: Supporting Infrastructure</a:t>
            </a:r>
            <a:endParaRPr b="0" i="0" sz="3900" u="none" cap="none" strike="noStrike"/>
          </a:p>
        </p:txBody>
      </p:sp>
      <p:sp>
        <p:nvSpPr>
          <p:cNvPr id="147" name="Google Shape;147;p19"/>
          <p:cNvSpPr/>
          <p:nvPr/>
        </p:nvSpPr>
        <p:spPr>
          <a:xfrm>
            <a:off x="699849" y="2558891"/>
            <a:ext cx="4313515" cy="391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b="1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APIs and Open Standards:</a:t>
            </a:r>
            <a:r>
              <a:rPr b="0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 Essential for ensuring seamless interoperability between diverse cloud services and platforms.</a:t>
            </a:r>
            <a:endParaRPr b="0" i="0" sz="1550" u="none" cap="none" strike="noStrike"/>
          </a:p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b="1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Self-Service Portals:</a:t>
            </a:r>
            <a:r>
              <a:rPr b="0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 Empower users with on-demand, user-driven provisioning of resources, reducing IT bottlenecks.</a:t>
            </a:r>
            <a:endParaRPr b="0" i="0" sz="1550" u="none" cap="none" strike="noStrike"/>
          </a:p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b="1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Monitoring Dashboards:</a:t>
            </a:r>
            <a:r>
              <a:rPr b="0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 Provide real-time, comprehensive insights into cloud performance, usage, and health.</a:t>
            </a:r>
            <a:endParaRPr b="0" i="0" sz="1550" u="none" cap="none" strike="noStrike"/>
          </a:p>
          <a:p>
            <a:pPr indent="0" lvl="0" marL="0" marR="0" rtl="0" algn="l">
              <a:lnSpc>
                <a:spcPct val="151612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50"/>
              <a:buFont typeface="Noto Sans TC"/>
              <a:buNone/>
            </a:pPr>
            <a:r>
              <a:rPr b="1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Automation Scripts &amp; Templates:</a:t>
            </a:r>
            <a:r>
              <a:rPr b="0" i="0" lang="en-US" sz="15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 Facilitate repeatable, error-free workflows for consistent environment management.</a:t>
            </a:r>
            <a:endParaRPr b="0" i="0" sz="1550" u="none" cap="none" strike="noStrike"/>
          </a:p>
        </p:txBody>
      </p:sp>
      <p:pic>
        <p:nvPicPr>
          <p:cNvPr descr="preencoded.png" id="148" name="Google Shape;14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8903" y="2171224"/>
            <a:ext cx="8429149" cy="47764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793790" y="826413"/>
            <a:ext cx="130428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"/>
              <a:buNone/>
            </a:pPr>
            <a:r>
              <a:rPr b="0" i="0" lang="en-US" sz="44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Case Study Highlight: IBM Multicloud Management Platform</a:t>
            </a:r>
            <a:endParaRPr b="0" i="0" sz="4450" u="none" cap="none" strike="noStrike"/>
          </a:p>
        </p:txBody>
      </p:sp>
      <p:sp>
        <p:nvSpPr>
          <p:cNvPr id="155" name="Google Shape;155;p20"/>
          <p:cNvSpPr/>
          <p:nvPr/>
        </p:nvSpPr>
        <p:spPr>
          <a:xfrm>
            <a:off x="793790" y="2697599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The IBM Multicloud Management Platform stands as a premier example of smart cloud management in action, offering a unified operations console for both traditional data centres and complex multicloud environments.</a:t>
            </a:r>
            <a:endParaRPr b="0" i="0" sz="1750" u="none" cap="none" strike="noStrike"/>
          </a:p>
        </p:txBody>
      </p:sp>
      <p:sp>
        <p:nvSpPr>
          <p:cNvPr id="156" name="Google Shape;156;p20"/>
          <p:cNvSpPr/>
          <p:nvPr/>
        </p:nvSpPr>
        <p:spPr>
          <a:xfrm>
            <a:off x="793790" y="4018717"/>
            <a:ext cx="4196358" cy="2403396"/>
          </a:xfrm>
          <a:prstGeom prst="roundRect">
            <a:avLst>
              <a:gd fmla="val 6087" name="adj"/>
            </a:avLst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7" name="Google Shape;15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988237"/>
            <a:ext cx="4196358" cy="121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58" name="Google Shape;15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1688" y="3678555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0"/>
          <p:cNvSpPr/>
          <p:nvPr/>
        </p:nvSpPr>
        <p:spPr>
          <a:xfrm>
            <a:off x="2755761" y="3848695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Sora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1</a:t>
            </a:r>
            <a:endParaRPr b="0" i="0" sz="2100" u="none" cap="none" strike="noStrike"/>
          </a:p>
        </p:txBody>
      </p:sp>
      <p:sp>
        <p:nvSpPr>
          <p:cNvPr id="160" name="Google Shape;160;p20"/>
          <p:cNvSpPr/>
          <p:nvPr/>
        </p:nvSpPr>
        <p:spPr>
          <a:xfrm>
            <a:off x="1051084" y="4585692"/>
            <a:ext cx="3391972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Workload Optimisation</a:t>
            </a:r>
            <a:endParaRPr b="0" i="0" sz="2200" u="none" cap="none" strike="noStrike"/>
          </a:p>
        </p:txBody>
      </p:sp>
      <p:sp>
        <p:nvSpPr>
          <p:cNvPr id="161" name="Google Shape;161;p20"/>
          <p:cNvSpPr/>
          <p:nvPr/>
        </p:nvSpPr>
        <p:spPr>
          <a:xfrm>
            <a:off x="1051084" y="5076111"/>
            <a:ext cx="368177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Intelligent placement and balancing of workloads for peak performance and efficiency.</a:t>
            </a:r>
            <a:endParaRPr b="0" i="0" sz="1750" u="none" cap="none" strike="noStrike"/>
          </a:p>
        </p:txBody>
      </p:sp>
      <p:sp>
        <p:nvSpPr>
          <p:cNvPr id="162" name="Google Shape;162;p20"/>
          <p:cNvSpPr/>
          <p:nvPr/>
        </p:nvSpPr>
        <p:spPr>
          <a:xfrm>
            <a:off x="5216962" y="4018717"/>
            <a:ext cx="4196358" cy="2403396"/>
          </a:xfrm>
          <a:prstGeom prst="roundRect">
            <a:avLst>
              <a:gd fmla="val 6087" name="adj"/>
            </a:avLst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6962" y="3988237"/>
            <a:ext cx="4196358" cy="121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4" name="Google Shape;16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4860" y="3678555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0"/>
          <p:cNvSpPr/>
          <p:nvPr/>
        </p:nvSpPr>
        <p:spPr>
          <a:xfrm>
            <a:off x="7178933" y="3848695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Sora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2</a:t>
            </a:r>
            <a:endParaRPr b="0" i="0" sz="2100" u="none" cap="none" strike="noStrike"/>
          </a:p>
        </p:txBody>
      </p:sp>
      <p:sp>
        <p:nvSpPr>
          <p:cNvPr id="166" name="Google Shape;166;p20"/>
          <p:cNvSpPr/>
          <p:nvPr/>
        </p:nvSpPr>
        <p:spPr>
          <a:xfrm>
            <a:off x="5474256" y="4585692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Cost Management</a:t>
            </a:r>
            <a:endParaRPr b="0" i="0" sz="2200" u="none" cap="none" strike="noStrike"/>
          </a:p>
        </p:txBody>
      </p:sp>
      <p:sp>
        <p:nvSpPr>
          <p:cNvPr id="167" name="Google Shape;167;p20"/>
          <p:cNvSpPr/>
          <p:nvPr/>
        </p:nvSpPr>
        <p:spPr>
          <a:xfrm>
            <a:off x="5474256" y="5076111"/>
            <a:ext cx="368177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Advanced analytics and controls to reduce cloud spend and forecast expenditures accurately.</a:t>
            </a:r>
            <a:endParaRPr b="0" i="0" sz="1750" u="none" cap="none" strike="noStrike"/>
          </a:p>
        </p:txBody>
      </p:sp>
      <p:sp>
        <p:nvSpPr>
          <p:cNvPr id="168" name="Google Shape;168;p20"/>
          <p:cNvSpPr/>
          <p:nvPr/>
        </p:nvSpPr>
        <p:spPr>
          <a:xfrm>
            <a:off x="9640133" y="4018717"/>
            <a:ext cx="4196358" cy="2403396"/>
          </a:xfrm>
          <a:prstGeom prst="roundRect">
            <a:avLst>
              <a:gd fmla="val 6087" name="adj"/>
            </a:avLst>
          </a:prstGeom>
          <a:solidFill>
            <a:srgbClr val="0707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0133" y="3988237"/>
            <a:ext cx="4196358" cy="121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70" name="Google Shape;1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98032" y="3678555"/>
            <a:ext cx="680442" cy="68044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/>
          <p:nvPr/>
        </p:nvSpPr>
        <p:spPr>
          <a:xfrm>
            <a:off x="11602105" y="3848695"/>
            <a:ext cx="272177" cy="3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Sora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Sora"/>
                <a:ea typeface="Sora"/>
                <a:cs typeface="Sora"/>
                <a:sym typeface="Sora"/>
              </a:rPr>
              <a:t>3</a:t>
            </a:r>
            <a:endParaRPr b="0" i="0" sz="2100" u="none" cap="none" strike="noStrike"/>
          </a:p>
        </p:txBody>
      </p:sp>
      <p:sp>
        <p:nvSpPr>
          <p:cNvPr id="172" name="Google Shape;172;p20"/>
          <p:cNvSpPr/>
          <p:nvPr/>
        </p:nvSpPr>
        <p:spPr>
          <a:xfrm>
            <a:off x="9897427" y="4585692"/>
            <a:ext cx="3554611" cy="354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2200"/>
              <a:buFont typeface="Sora"/>
              <a:buNone/>
            </a:pPr>
            <a:r>
              <a:rPr b="0" i="0" lang="en-US" sz="220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Compliance Automation</a:t>
            </a:r>
            <a:endParaRPr b="0" i="0" sz="2200" u="none" cap="none" strike="noStrike"/>
          </a:p>
        </p:txBody>
      </p:sp>
      <p:sp>
        <p:nvSpPr>
          <p:cNvPr id="173" name="Google Shape;173;p20"/>
          <p:cNvSpPr/>
          <p:nvPr/>
        </p:nvSpPr>
        <p:spPr>
          <a:xfrm>
            <a:off x="9897427" y="5076111"/>
            <a:ext cx="3681770" cy="1088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Automated enforcement and reporting to ensure continuous regulatory adherence.</a:t>
            </a:r>
            <a:endParaRPr b="0" i="0" sz="1750" u="none" cap="none" strike="noStrike"/>
          </a:p>
        </p:txBody>
      </p:sp>
      <p:sp>
        <p:nvSpPr>
          <p:cNvPr id="174" name="Google Shape;174;p20"/>
          <p:cNvSpPr/>
          <p:nvPr/>
        </p:nvSpPr>
        <p:spPr>
          <a:xfrm>
            <a:off x="793790" y="6677263"/>
            <a:ext cx="130428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Clients utilising the platform report remarkable improvements, including 50% faster deployment cycles and a significant 25% reduction in overall cloud expenditure.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0" name="Google Shape;18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1"/>
          <p:cNvSpPr/>
          <p:nvPr/>
        </p:nvSpPr>
        <p:spPr>
          <a:xfrm>
            <a:off x="6175058" y="734973"/>
            <a:ext cx="7766685" cy="1844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75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3850"/>
              <a:buFont typeface="Sora"/>
              <a:buNone/>
            </a:pPr>
            <a:r>
              <a:rPr b="0" i="0" lang="en-US" sz="38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Conclusion: Transforming Cloud Management for the Future</a:t>
            </a:r>
            <a:endParaRPr b="0" i="0" sz="3850" u="none" cap="none" strike="noStrike"/>
          </a:p>
        </p:txBody>
      </p:sp>
      <p:sp>
        <p:nvSpPr>
          <p:cNvPr id="182" name="Google Shape;182;p21"/>
          <p:cNvSpPr/>
          <p:nvPr/>
        </p:nvSpPr>
        <p:spPr>
          <a:xfrm>
            <a:off x="6175058" y="2835831"/>
            <a:ext cx="442674" cy="442674"/>
          </a:xfrm>
          <a:prstGeom prst="roundRect">
            <a:avLst>
              <a:gd fmla="val 6667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48876" y="2909649"/>
            <a:ext cx="295037" cy="295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/>
          <p:nvPr/>
        </p:nvSpPr>
        <p:spPr>
          <a:xfrm>
            <a:off x="6788348" y="2903458"/>
            <a:ext cx="2631758" cy="307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Essential for Success</a:t>
            </a:r>
            <a:endParaRPr b="0" i="0" sz="1900" u="none" cap="none" strike="noStrike"/>
          </a:p>
        </p:txBody>
      </p:sp>
      <p:sp>
        <p:nvSpPr>
          <p:cNvPr id="185" name="Google Shape;185;p21"/>
          <p:cNvSpPr/>
          <p:nvPr/>
        </p:nvSpPr>
        <p:spPr>
          <a:xfrm>
            <a:off x="6788348" y="3313271"/>
            <a:ext cx="7153394" cy="587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Noto Sans TC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Smart Cloud Management Systems are crucial for fully harnessing the potential benefits of cloud infrastructure.</a:t>
            </a:r>
            <a:endParaRPr b="0" i="0" sz="1500" u="none" cap="none" strike="noStrike"/>
          </a:p>
        </p:txBody>
      </p:sp>
      <p:sp>
        <p:nvSpPr>
          <p:cNvPr id="186" name="Google Shape;186;p21"/>
          <p:cNvSpPr/>
          <p:nvPr/>
        </p:nvSpPr>
        <p:spPr>
          <a:xfrm>
            <a:off x="6175058" y="4242554"/>
            <a:ext cx="442674" cy="442674"/>
          </a:xfrm>
          <a:prstGeom prst="roundRect">
            <a:avLst>
              <a:gd fmla="val 6667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7" name="Google Shape;187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8876" y="4316373"/>
            <a:ext cx="295037" cy="29503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/>
          <p:nvPr/>
        </p:nvSpPr>
        <p:spPr>
          <a:xfrm>
            <a:off x="6788348" y="4310182"/>
            <a:ext cx="2459474" cy="307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Drive Efficiency</a:t>
            </a:r>
            <a:endParaRPr b="0" i="0" sz="1900" u="none" cap="none" strike="noStrike"/>
          </a:p>
        </p:txBody>
      </p:sp>
      <p:sp>
        <p:nvSpPr>
          <p:cNvPr id="189" name="Google Shape;189;p21"/>
          <p:cNvSpPr/>
          <p:nvPr/>
        </p:nvSpPr>
        <p:spPr>
          <a:xfrm>
            <a:off x="6788348" y="4719995"/>
            <a:ext cx="7153394" cy="587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Noto Sans TC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They effectively reduce complexity, improve agility, enhance security postures, and significantly optimise costs.</a:t>
            </a:r>
            <a:endParaRPr b="0" i="0" sz="1500" u="none" cap="none" strike="noStrike"/>
          </a:p>
        </p:txBody>
      </p:sp>
      <p:sp>
        <p:nvSpPr>
          <p:cNvPr id="190" name="Google Shape;190;p21"/>
          <p:cNvSpPr/>
          <p:nvPr/>
        </p:nvSpPr>
        <p:spPr>
          <a:xfrm>
            <a:off x="6175058" y="5649278"/>
            <a:ext cx="442674" cy="442674"/>
          </a:xfrm>
          <a:prstGeom prst="roundRect">
            <a:avLst>
              <a:gd fmla="val 6667" name="adj"/>
            </a:avLst>
          </a:prstGeom>
          <a:solidFill>
            <a:srgbClr val="2626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1" name="Google Shape;19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48876" y="5723096"/>
            <a:ext cx="295037" cy="29503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/>
          <p:nvPr/>
        </p:nvSpPr>
        <p:spPr>
          <a:xfrm>
            <a:off x="6788348" y="5716905"/>
            <a:ext cx="2906197" cy="307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900"/>
              <a:buFont typeface="Sora"/>
              <a:buNone/>
            </a:pPr>
            <a:r>
              <a:rPr b="0" i="0" lang="en-US" sz="1900" u="none" cap="none" strike="noStrike">
                <a:solidFill>
                  <a:srgbClr val="E0D6DE"/>
                </a:solidFill>
                <a:latin typeface="Sora"/>
                <a:ea typeface="Sora"/>
                <a:cs typeface="Sora"/>
                <a:sym typeface="Sora"/>
              </a:rPr>
              <a:t>Gain Competitive Edge</a:t>
            </a:r>
            <a:endParaRPr b="0" i="0" sz="1900" u="none" cap="none" strike="noStrike"/>
          </a:p>
        </p:txBody>
      </p:sp>
      <p:sp>
        <p:nvSpPr>
          <p:cNvPr id="193" name="Google Shape;193;p21"/>
          <p:cNvSpPr/>
          <p:nvPr/>
        </p:nvSpPr>
        <p:spPr>
          <a:xfrm>
            <a:off x="6788348" y="6126718"/>
            <a:ext cx="7153394" cy="587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500"/>
              <a:buFont typeface="Noto Sans TC"/>
              <a:buNone/>
            </a:pPr>
            <a:r>
              <a:rPr b="0" i="0" lang="en-US" sz="15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Organisations that adopt these advanced systems gain a distinct competitive advantage in their digital transformation journeys.</a:t>
            </a:r>
            <a:endParaRPr b="0" i="0" sz="1500" u="none" cap="none" strike="noStrike"/>
          </a:p>
        </p:txBody>
      </p:sp>
      <p:sp>
        <p:nvSpPr>
          <p:cNvPr id="194" name="Google Shape;194;p21"/>
          <p:cNvSpPr/>
          <p:nvPr/>
        </p:nvSpPr>
        <p:spPr>
          <a:xfrm>
            <a:off x="6175058" y="6906578"/>
            <a:ext cx="7766685" cy="5879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3333"/>
              </a:lnSpc>
              <a:spcBef>
                <a:spcPts val="0"/>
              </a:spcBef>
              <a:spcAft>
                <a:spcPts val="0"/>
              </a:spcAft>
              <a:buClr>
                <a:srgbClr val="481C9E"/>
              </a:buClr>
              <a:buSzPts val="1500"/>
              <a:buFont typeface="Noto Sans TC"/>
              <a:buNone/>
            </a:pPr>
            <a:r>
              <a:rPr b="1" i="0" lang="en-US" sz="1500" u="none" cap="none" strike="noStrike">
                <a:solidFill>
                  <a:srgbClr val="481C9E"/>
                </a:solidFill>
                <a:latin typeface="Noto Sans TC"/>
                <a:ea typeface="Noto Sans TC"/>
                <a:cs typeface="Noto Sans TC"/>
                <a:sym typeface="Noto Sans TC"/>
              </a:rPr>
              <a:t>Call to action:</a:t>
            </a:r>
            <a:r>
              <a:rPr b="0" i="0" lang="en-US" sz="150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 Embrace smart cloud management to unlock your cloud’s full potential and secure your future in the digital landscape.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2"/>
          <p:cNvSpPr/>
          <p:nvPr/>
        </p:nvSpPr>
        <p:spPr>
          <a:xfrm>
            <a:off x="6280190" y="2235160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4450"/>
              <a:buFont typeface="Sora"/>
              <a:buNone/>
            </a:pPr>
            <a:r>
              <a:rPr b="0" i="0" lang="en-US" sz="44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Thank You</a:t>
            </a:r>
            <a:endParaRPr b="0" i="0" sz="4450" u="none" cap="none" strike="noStrike"/>
          </a:p>
        </p:txBody>
      </p:sp>
      <p:sp>
        <p:nvSpPr>
          <p:cNvPr id="202" name="Google Shape;202;p22"/>
          <p:cNvSpPr/>
          <p:nvPr/>
        </p:nvSpPr>
        <p:spPr>
          <a:xfrm>
            <a:off x="6280190" y="3034665"/>
            <a:ext cx="4092178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650"/>
              <a:buFont typeface="Sora"/>
              <a:buNone/>
            </a:pPr>
            <a:r>
              <a:rPr b="0" i="0" lang="en-US" sz="26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Questions &amp; Discussion</a:t>
            </a:r>
            <a:endParaRPr b="0" i="0" sz="2650" u="none" cap="none" strike="noStrike"/>
          </a:p>
        </p:txBody>
      </p:sp>
      <p:sp>
        <p:nvSpPr>
          <p:cNvPr id="203" name="Google Shape;203;p22"/>
          <p:cNvSpPr/>
          <p:nvPr/>
        </p:nvSpPr>
        <p:spPr>
          <a:xfrm>
            <a:off x="6280190" y="3800118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Please feel free to ask any questions or share your thoughts.</a:t>
            </a:r>
            <a:endParaRPr b="0" i="0" sz="1750" u="none" cap="none" strike="noStrike"/>
          </a:p>
        </p:txBody>
      </p:sp>
      <p:sp>
        <p:nvSpPr>
          <p:cNvPr id="204" name="Google Shape;204;p22"/>
          <p:cNvSpPr/>
          <p:nvPr/>
        </p:nvSpPr>
        <p:spPr>
          <a:xfrm>
            <a:off x="6280190" y="4503182"/>
            <a:ext cx="3551634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97B8FF"/>
              </a:buClr>
              <a:buSzPts val="2650"/>
              <a:buFont typeface="Sora"/>
              <a:buNone/>
            </a:pPr>
            <a:r>
              <a:rPr b="0" i="0" lang="en-US" sz="2650" u="none" cap="none" strike="noStrike">
                <a:solidFill>
                  <a:srgbClr val="97B8FF"/>
                </a:solidFill>
                <a:latin typeface="Sora"/>
                <a:ea typeface="Sora"/>
                <a:cs typeface="Sora"/>
                <a:sym typeface="Sora"/>
              </a:rPr>
              <a:t>Contact Information</a:t>
            </a:r>
            <a:endParaRPr b="0" i="0" sz="2650" u="none" cap="none" strike="noStrike"/>
          </a:p>
        </p:txBody>
      </p:sp>
      <p:sp>
        <p:nvSpPr>
          <p:cNvPr id="205" name="Google Shape;205;p22"/>
          <p:cNvSpPr/>
          <p:nvPr/>
        </p:nvSpPr>
        <p:spPr>
          <a:xfrm>
            <a:off x="6280190" y="5268635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E0D6DE"/>
              </a:buClr>
              <a:buSzPts val="1750"/>
              <a:buFont typeface="Noto Sans TC"/>
              <a:buNone/>
            </a:pPr>
            <a:r>
              <a:rPr b="0" i="0" lang="en-US" sz="1750" u="none" cap="none" strike="noStrike">
                <a:solidFill>
                  <a:srgbClr val="E0D6DE"/>
                </a:solidFill>
                <a:latin typeface="Noto Sans TC"/>
                <a:ea typeface="Noto Sans TC"/>
                <a:cs typeface="Noto Sans TC"/>
                <a:sym typeface="Noto Sans TC"/>
              </a:rPr>
              <a:t>For follow-up inquiries or demo requests, please reach out to [Your Name/Company Details].</a:t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